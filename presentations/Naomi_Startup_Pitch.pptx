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CUSTOMER COURT BATTLE  ·  STEP 1 GROUP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1">
                <a:solidFill>
                  <a:srgbClr val="8C1F28"/>
                </a:solidFill>
                <a:latin typeface="Calibri"/>
              </a:rPr>
              <a:t>NAOMI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F1F1F"/>
                </a:solidFill>
                <a:latin typeface="Calibri"/>
              </a:rPr>
              <a:t>Your AI Study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  <a:latin typeface="Calibri"/>
              </a:rPr>
              <a:t>Personalized learning that actually fits how you study.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120640"/>
            <a:ext cx="10972800" cy="4572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University of Europe for Applied Sciences  ·  Entrepreneurship 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Presented by Team Naomi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NAOMI  ·  AI Study Buddy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8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OUR START-UP IDEA IS…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Calibri"/>
              </a:rPr>
              <a:t>Naomi turns any course into a personal AI tutor.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36576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1F1F"/>
                </a:solidFill>
                <a:latin typeface="Calibri"/>
              </a:rPr>
              <a:t>Naomi is an AI study buddy that turns lecture notes, slides,</a:t>
            </a:r>
          </a:p>
          <a:p>
            <a:pPr algn="l"/>
            <a:r>
              <a:rPr sz="2200" b="1">
                <a:solidFill>
                  <a:srgbClr val="1F1F1F"/>
                </a:solidFill>
                <a:latin typeface="Calibri"/>
              </a:rPr>
              <a:t>and textbooks into a personal tutor — available 24/7, in any</a:t>
            </a:r>
          </a:p>
          <a:p>
            <a:pPr algn="l"/>
            <a:r>
              <a:rPr sz="2200" b="1">
                <a:solidFill>
                  <a:srgbClr val="1F1F1F"/>
                </a:solidFill>
                <a:latin typeface="Calibri"/>
              </a:rPr>
              <a:t>language, on any device.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86200"/>
            <a:ext cx="33528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886200"/>
            <a:ext cx="3352800" cy="36576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298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298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Upload any material — Naomi summarizes it in your style and explains it the way you learn best.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5760" y="3886200"/>
            <a:ext cx="33528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75760" y="3886200"/>
            <a:ext cx="3352800" cy="36576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8640" y="3931920"/>
            <a:ext cx="298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8640" y="4389120"/>
            <a:ext cx="298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Auto-generates quizzes, flashcards, and mock exams from your course content.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11440" y="3886200"/>
            <a:ext cx="33528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11440" y="3886200"/>
            <a:ext cx="3352800" cy="36576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4320" y="3931920"/>
            <a:ext cx="298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320" y="4389120"/>
            <a:ext cx="298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Calibri"/>
              </a:rPr>
              <a:t>Tracks your weak spots, schedules spaced repetition, and gets you exam-ready faster.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NAOMI  ·  AI Study Buddy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8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OUR PRIMARY CUSTOMER IS…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Calibri"/>
              </a:rPr>
              <a:t>European university students who study smarter, not harder.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36576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Calibri"/>
              </a:rPr>
              <a:t>Not everyone. Our primary customer is: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8C1F28"/>
                </a:solidFill>
                <a:latin typeface="Calibri"/>
              </a:rPr>
              <a:t>University students aged 18–26 in Europe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Calibri"/>
              </a:rPr>
              <a:t>studying STEM, business, or design programs — laptop-first, phone-second, exam-stressed.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2212848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2212848" cy="4114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776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Lena, 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1F28"/>
                </a:solidFill>
                <a:latin typeface="Calibri"/>
              </a:rPr>
              <a:t>Bachelor — 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00600"/>
            <a:ext cx="19385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Juggles part-time job. Skims slides the night before.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07792" y="3931920"/>
            <a:ext cx="2212848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07792" y="3931920"/>
            <a:ext cx="2212848" cy="4114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39776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Arjun,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44348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1F28"/>
                </a:solidFill>
                <a:latin typeface="Calibri"/>
              </a:rPr>
              <a:t>Master — Computer Science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4952" y="4800600"/>
            <a:ext cx="19385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Drowns in dense papers. Wants a tutor that speaks his level.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75504" y="3931920"/>
            <a:ext cx="2212848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75504" y="3931920"/>
            <a:ext cx="2212848" cy="4114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2664" y="39776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Sofía, 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44348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1F28"/>
                </a:solidFill>
                <a:latin typeface="Calibri"/>
              </a:rPr>
              <a:t>Foundation 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4800600"/>
            <a:ext cx="19385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ESL student. Needs concepts re-explained in her language.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43216" y="3931920"/>
            <a:ext cx="2212848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43216" y="3931920"/>
            <a:ext cx="2212848" cy="4114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0376" y="39776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Marek, 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0376" y="44348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1F28"/>
                </a:solidFill>
                <a:latin typeface="Calibri"/>
              </a:rPr>
              <a:t>Online MBA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6" y="4800600"/>
            <a:ext cx="19385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Full-time job. Studies in 20-minute commute chunks.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10928" y="3931920"/>
            <a:ext cx="2212848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10928" y="3931920"/>
            <a:ext cx="2212848" cy="4114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48088" y="39776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Yuki, 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44348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8C1F28"/>
                </a:solidFill>
                <a:latin typeface="Calibri"/>
              </a:rPr>
              <a:t>Bachelor —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8088" y="4800600"/>
            <a:ext cx="193852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Visual learner. Hates walls of text, loves diagrams.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NAOMI  ·  AI Study Buddy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8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THEIR MAIN NEED IS…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Calibri"/>
              </a:rPr>
              <a:t>Understand the material, pass exams, stay sane.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36576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Calibri"/>
              </a:rPr>
              <a:t>Their main need is…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8C1F28"/>
                </a:solidFill>
                <a:latin typeface="Calibri"/>
              </a:rPr>
              <a:t>…to actually understand their course material —</a:t>
            </a:r>
          </a:p>
          <a:p>
            <a:pPr algn="l"/>
            <a:r>
              <a:rPr sz="2800" b="1">
                <a:solidFill>
                  <a:srgbClr val="8C1F28"/>
                </a:solidFill>
                <a:latin typeface="Calibri"/>
              </a:rPr>
              <a:t>and pass exams — without burning 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023360"/>
            <a:ext cx="137160" cy="10972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330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Information overload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5262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Hundreds of slides per course, no clear path through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023360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4023360"/>
            <a:ext cx="137160" cy="10972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1330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Generic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5262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YouTube tutors and textbooks aren't tailored to their syllabus.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03520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303520"/>
            <a:ext cx="137160" cy="10972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4132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Expensive tutoring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80644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Private tutors cost €30–80/hour — out of reach for most students.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5303520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5303520"/>
            <a:ext cx="137160" cy="109728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54132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Procrastination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80644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Without structure, study time slides into TikTok time.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NAOMI  ·  AI Study Buddy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8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OUR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Calibri"/>
              </a:rPr>
              <a:t>Naomi reduces drop-outs and improves grades.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36576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Calibri"/>
              </a:rPr>
              <a:t>By helping this customer, our start-up also…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8C1F28"/>
                </a:solidFill>
                <a:latin typeface="Calibri"/>
              </a:rPr>
              <a:t>Reduces drop-out rates  by  giving every student a 1:1 tutor.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8C1F28"/>
                </a:solidFill>
                <a:latin typeface="Calibri"/>
              </a:rPr>
              <a:t>Improves grades  by  closing knowledge gaps before exams.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06240"/>
            <a:ext cx="3352800" cy="18288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298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32%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03520"/>
            <a:ext cx="298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of EU students drop out before graduating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5760" y="4206240"/>
            <a:ext cx="3352800" cy="18288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8640" y="4434840"/>
            <a:ext cx="298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€2.4B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8640" y="5303520"/>
            <a:ext cx="298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spent on private tutoring in Europe each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11440" y="4206240"/>
            <a:ext cx="3352800" cy="18288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94320" y="4434840"/>
            <a:ext cx="298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4.7h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4320" y="5303520"/>
            <a:ext cx="298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avg. weekly study time saved with AI tools (pilot data)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NAOMI  ·  AI Study Buddy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8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WHY THEY'LL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Calibri"/>
              </a:rPr>
              <a:t>A personal tutor in your pocket — for the price of a coffee.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36576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1F1F"/>
                </a:solidFill>
                <a:latin typeface="Calibri"/>
              </a:rPr>
              <a:t>Our customer will care about our solution because…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C1F28"/>
                </a:solidFill>
                <a:latin typeface="Calibri"/>
              </a:rPr>
              <a:t>It solves exam anxiety and confusion,</a:t>
            </a:r>
          </a:p>
          <a:p>
            <a:pPr algn="l"/>
            <a:r>
              <a:rPr sz="2200" b="1">
                <a:solidFill>
                  <a:srgbClr val="8C1F28"/>
                </a:solidFill>
                <a:latin typeface="Calibri"/>
              </a:rPr>
              <a:t>and helps them learn faster and remember more</a:t>
            </a:r>
          </a:p>
          <a:p>
            <a:pPr algn="l"/>
            <a:r>
              <a:rPr sz="2200" b="1">
                <a:solidFill>
                  <a:srgbClr val="8C1F28"/>
                </a:solidFill>
                <a:latin typeface="Calibri"/>
              </a:rPr>
              <a:t>without paying for tutors or wasting nights on YouTube.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84632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Personal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492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Adapts to your course, your style, your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484632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4983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Affordable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53492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€7/month — less than one tutor hour.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84632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983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Always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3492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Answers at 2 a.m. the night before the exam.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484632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4983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Built-in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534924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Calibri"/>
              </a:rPr>
              <a:t>Connects to Moodle, Canvas, and Google Drive.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NAOMI  ·  AI Study Buddy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8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1F28"/>
                </a:solidFill>
                <a:latin typeface="Calibri"/>
              </a:rPr>
              <a:t>HOW WE MAKE IT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F1F"/>
                </a:solidFill>
                <a:latin typeface="Calibri"/>
              </a:rPr>
              <a:t>Freemium for students, licenses for universities.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972800" cy="36576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1F28"/>
                </a:solidFill>
                <a:latin typeface="Calibri"/>
              </a:rPr>
              <a:t>Business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Freemium: free for 1 course, paid for unlimited.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Pro plan: €7/month for students.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Campus plan: bulk license sold to universities.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B2B add-on: white-label for online course providers.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Marketplace: verified tutors charge per session in-app.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1F28"/>
                </a:solidFill>
                <a:latin typeface="Calibri"/>
              </a:rPr>
              <a:t>Traction &amp; next 90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2316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MVP live with 120 beta users from UE Berlin.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NPS 62 across first cohort.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Pilot agreement signed with 2 student associations.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Q3: launch on iOS + Android.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Q4: close pre-seed round (€350k).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669280"/>
            <a:ext cx="10972800" cy="50292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3328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Looking for: pilot universities, design partners, and pre-seed angels.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NAOMI  ·  AI Study Buddy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E2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C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>
                <a:solidFill>
                  <a:srgbClr val="8C1F28"/>
                </a:solidFill>
                <a:latin typeface="Calibri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Calibri"/>
              </a:rPr>
              <a:t>Feedback directly afterwards.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  <a:latin typeface="Calibri"/>
              </a:rPr>
              <a:t>Questions, critiques, brutal honesty — all welcome.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4132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1F28"/>
                </a:solidFill>
                <a:latin typeface="Calibri"/>
              </a:rPr>
              <a:t>Team Naomi  ·  hello@naomi.study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7900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University of Europe for Applied Sciences  ·  Entrepreneurship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C1F28"/>
                </a:solidFill>
                <a:latin typeface="Calibri"/>
              </a:rPr>
              <a:t>NAOMI  ·  AI Study Buddy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C1F2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