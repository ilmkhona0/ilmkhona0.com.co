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BFE2D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8C1F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4864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8C1F28"/>
                </a:solidFill>
                <a:latin typeface="Calibri"/>
              </a:rPr>
              <a:t>CUSTOMER COURT BATTLE  ·  STEP 1 GROUP PRESENTATION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45920"/>
            <a:ext cx="109728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600" b="1">
                <a:solidFill>
                  <a:srgbClr val="8C1F28"/>
                </a:solidFill>
                <a:latin typeface="Calibri"/>
              </a:rPr>
              <a:t>NOMIN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200400"/>
            <a:ext cx="10972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600" b="1">
                <a:solidFill>
                  <a:srgbClr val="1F1F1F"/>
                </a:solidFill>
                <a:latin typeface="Calibri"/>
              </a:rPr>
              <a:t>Your AI Study Buddy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931920"/>
            <a:ext cx="10972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0">
                <a:solidFill>
                  <a:srgbClr val="1F1F1F"/>
                </a:solidFill>
                <a:latin typeface="Calibri"/>
              </a:rPr>
              <a:t>Personalized learning that actually fits how you study.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5120640"/>
            <a:ext cx="10972800" cy="45720"/>
          </a:xfrm>
          <a:prstGeom prst="rect">
            <a:avLst/>
          </a:prstGeom>
          <a:solidFill>
            <a:srgbClr val="8C1F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525780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8C1F28"/>
                </a:solidFill>
                <a:latin typeface="Calibri"/>
              </a:rPr>
              <a:t>University of Europe for Applied Sciences  ·  Entrepreneurship Course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62356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1F1F1F"/>
                </a:solidFill>
                <a:latin typeface="Calibri"/>
              </a:rPr>
              <a:t>Presented by Team NOMIN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46520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8C1F28"/>
                </a:solidFill>
                <a:latin typeface="Calibri"/>
              </a:rPr>
              <a:t>NOMIN  ·  AI Study Buddy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0" y="6446520"/>
            <a:ext cx="1645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8C1F28"/>
                </a:solidFill>
                <a:latin typeface="Calibri"/>
              </a:rPr>
              <a:t>1 / 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BFE2D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8C1F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640080" y="502920"/>
            <a:ext cx="822960" cy="822960"/>
          </a:xfrm>
          <a:prstGeom prst="ellipse">
            <a:avLst/>
          </a:prstGeom>
          <a:solidFill>
            <a:srgbClr val="8C1F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32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45920" y="502920"/>
            <a:ext cx="100584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8C1F28"/>
                </a:solidFill>
                <a:latin typeface="Calibri"/>
              </a:rPr>
              <a:t>OUR START-UP IDEA IS…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0" y="868680"/>
            <a:ext cx="10058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1F1F"/>
                </a:solidFill>
                <a:latin typeface="Calibri"/>
              </a:rPr>
              <a:t>NOMIN turns any course into a personal AI tutor.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691640"/>
            <a:ext cx="10972800" cy="36576"/>
          </a:xfrm>
          <a:prstGeom prst="rect">
            <a:avLst/>
          </a:prstGeom>
          <a:solidFill>
            <a:srgbClr val="8C1F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2011680"/>
            <a:ext cx="10972800" cy="1645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240280"/>
            <a:ext cx="1042416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>
                <a:solidFill>
                  <a:srgbClr val="1F1F1F"/>
                </a:solidFill>
                <a:latin typeface="Calibri"/>
              </a:rPr>
              <a:t>NOMIN is an AI study buddy that turns lecture notes, slides,</a:t>
            </a:r>
          </a:p>
          <a:p>
            <a:pPr algn="l"/>
            <a:r>
              <a:rPr sz="2200" b="1">
                <a:solidFill>
                  <a:srgbClr val="1F1F1F"/>
                </a:solidFill>
                <a:latin typeface="Calibri"/>
              </a:rPr>
              <a:t>and textbooks into a personal tutor — available 24/7, in any</a:t>
            </a:r>
          </a:p>
          <a:p>
            <a:pPr algn="l"/>
            <a:r>
              <a:rPr sz="2200" b="1">
                <a:solidFill>
                  <a:srgbClr val="1F1F1F"/>
                </a:solidFill>
                <a:latin typeface="Calibri"/>
              </a:rPr>
              <a:t>language, on any device.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3886200"/>
            <a:ext cx="3352800" cy="21945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" y="3886200"/>
            <a:ext cx="3352800" cy="365760"/>
          </a:xfrm>
          <a:prstGeom prst="rect">
            <a:avLst/>
          </a:prstGeom>
          <a:solidFill>
            <a:srgbClr val="8C1F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3931920"/>
            <a:ext cx="29870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Understand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4389120"/>
            <a:ext cx="298704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1F1F1F"/>
                </a:solidFill>
                <a:latin typeface="Calibri"/>
              </a:rPr>
              <a:t>Upload any material — NOMIN summarizes it in your style and explains it the way you learn best.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175760" y="3886200"/>
            <a:ext cx="3352800" cy="21945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175760" y="3886200"/>
            <a:ext cx="3352800" cy="365760"/>
          </a:xfrm>
          <a:prstGeom prst="rect">
            <a:avLst/>
          </a:prstGeom>
          <a:solidFill>
            <a:srgbClr val="8C1F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358640" y="3931920"/>
            <a:ext cx="29870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Practice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58640" y="4389120"/>
            <a:ext cx="298704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1F1F1F"/>
                </a:solidFill>
                <a:latin typeface="Calibri"/>
              </a:rPr>
              <a:t>Auto-generates quizzes, flashcards, and mock exams from your course content.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11440" y="3886200"/>
            <a:ext cx="3352800" cy="21945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11440" y="3886200"/>
            <a:ext cx="3352800" cy="365760"/>
          </a:xfrm>
          <a:prstGeom prst="rect">
            <a:avLst/>
          </a:prstGeom>
          <a:solidFill>
            <a:srgbClr val="8C1F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894320" y="3931920"/>
            <a:ext cx="29870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Master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94320" y="4389120"/>
            <a:ext cx="298704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1F1F1F"/>
                </a:solidFill>
                <a:latin typeface="Calibri"/>
              </a:rPr>
              <a:t>Tracks your weak spots, schedules spaced repetition, and gets you exam-ready faster.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5760" y="6446520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8C1F28"/>
                </a:solidFill>
                <a:latin typeface="Calibri"/>
              </a:rPr>
              <a:t>NOMIN  ·  AI Study Buddy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515600" y="6446520"/>
            <a:ext cx="1645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8C1F28"/>
                </a:solidFill>
                <a:latin typeface="Calibri"/>
              </a:rPr>
              <a:t>2 / 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BFE2D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8C1F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640080" y="502920"/>
            <a:ext cx="822960" cy="822960"/>
          </a:xfrm>
          <a:prstGeom prst="ellipse">
            <a:avLst/>
          </a:prstGeom>
          <a:solidFill>
            <a:srgbClr val="8C1F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32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45920" y="502920"/>
            <a:ext cx="100584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8C1F28"/>
                </a:solidFill>
                <a:latin typeface="Calibri"/>
              </a:rPr>
              <a:t>OUR PRIMARY CUSTOMER IS…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0" y="868680"/>
            <a:ext cx="10058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1F1F"/>
                </a:solidFill>
                <a:latin typeface="Calibri"/>
              </a:rPr>
              <a:t>European university students who study smarter, not harder.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691640"/>
            <a:ext cx="10972800" cy="36576"/>
          </a:xfrm>
          <a:prstGeom prst="rect">
            <a:avLst/>
          </a:prstGeom>
          <a:solidFill>
            <a:srgbClr val="8C1F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965960"/>
            <a:ext cx="10972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1F1F1F"/>
                </a:solidFill>
                <a:latin typeface="Calibri"/>
              </a:rPr>
              <a:t>Not everyone. Our primary customer is: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331720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>
                <a:solidFill>
                  <a:srgbClr val="8C1F28"/>
                </a:solidFill>
                <a:latin typeface="Calibri"/>
              </a:rPr>
              <a:t>University students aged 18–26 in Europe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017520"/>
            <a:ext cx="10972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1F1F1F"/>
                </a:solidFill>
                <a:latin typeface="Calibri"/>
              </a:rPr>
              <a:t>studying STEM, business, or design programs — laptop-first, phone-second, exam-stressed.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3931920"/>
            <a:ext cx="2212848" cy="21945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3931920"/>
            <a:ext cx="2212848" cy="411480"/>
          </a:xfrm>
          <a:prstGeom prst="rect">
            <a:avLst/>
          </a:prstGeom>
          <a:solidFill>
            <a:srgbClr val="8C1F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3977640"/>
            <a:ext cx="193852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Lena, 21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4434840"/>
            <a:ext cx="193852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8C1F28"/>
                </a:solidFill>
                <a:latin typeface="Calibri"/>
              </a:rPr>
              <a:t>Bachelor — Business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4800600"/>
            <a:ext cx="1938528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1F1F1F"/>
                </a:solidFill>
                <a:latin typeface="Calibri"/>
              </a:rPr>
              <a:t>Juggles part-time job. Skims slides the night before.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907792" y="3931920"/>
            <a:ext cx="2212848" cy="21945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907792" y="3931920"/>
            <a:ext cx="2212848" cy="411480"/>
          </a:xfrm>
          <a:prstGeom prst="rect">
            <a:avLst/>
          </a:prstGeom>
          <a:solidFill>
            <a:srgbClr val="8C1F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044952" y="3977640"/>
            <a:ext cx="193852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Arjun, 23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044952" y="4434840"/>
            <a:ext cx="193852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8C1F28"/>
                </a:solidFill>
                <a:latin typeface="Calibri"/>
              </a:rPr>
              <a:t>Master — Computer Science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044952" y="4800600"/>
            <a:ext cx="1938528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1F1F1F"/>
                </a:solidFill>
                <a:latin typeface="Calibri"/>
              </a:rPr>
              <a:t>Drowns in dense papers. Wants a tutor that speaks his level.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175504" y="3931920"/>
            <a:ext cx="2212848" cy="21945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175504" y="3931920"/>
            <a:ext cx="2212848" cy="411480"/>
          </a:xfrm>
          <a:prstGeom prst="rect">
            <a:avLst/>
          </a:prstGeom>
          <a:solidFill>
            <a:srgbClr val="8C1F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312664" y="3977640"/>
            <a:ext cx="193852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Sofía, 19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12664" y="4434840"/>
            <a:ext cx="193852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8C1F28"/>
                </a:solidFill>
                <a:latin typeface="Calibri"/>
              </a:rPr>
              <a:t>Foundation Year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312664" y="4800600"/>
            <a:ext cx="1938528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1F1F1F"/>
                </a:solidFill>
                <a:latin typeface="Calibri"/>
              </a:rPr>
              <a:t>ESL student. Needs concepts re-explained in her language.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443216" y="3931920"/>
            <a:ext cx="2212848" cy="21945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443216" y="3931920"/>
            <a:ext cx="2212848" cy="411480"/>
          </a:xfrm>
          <a:prstGeom prst="rect">
            <a:avLst/>
          </a:prstGeom>
          <a:solidFill>
            <a:srgbClr val="8C1F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580376" y="3977640"/>
            <a:ext cx="193852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Marek, 25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580376" y="4434840"/>
            <a:ext cx="193852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8C1F28"/>
                </a:solidFill>
                <a:latin typeface="Calibri"/>
              </a:rPr>
              <a:t>Online MBA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580376" y="4800600"/>
            <a:ext cx="1938528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1F1F1F"/>
                </a:solidFill>
                <a:latin typeface="Calibri"/>
              </a:rPr>
              <a:t>Full-time job. Studies in 20-minute commute chunks.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710928" y="3931920"/>
            <a:ext cx="2212848" cy="21945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9710928" y="3931920"/>
            <a:ext cx="2212848" cy="411480"/>
          </a:xfrm>
          <a:prstGeom prst="rect">
            <a:avLst/>
          </a:prstGeom>
          <a:solidFill>
            <a:srgbClr val="8C1F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848088" y="3977640"/>
            <a:ext cx="193852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Yuki, 22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48088" y="4434840"/>
            <a:ext cx="193852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8C1F28"/>
                </a:solidFill>
                <a:latin typeface="Calibri"/>
              </a:rPr>
              <a:t>Bachelor — Design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848088" y="4800600"/>
            <a:ext cx="1938528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1F1F1F"/>
                </a:solidFill>
                <a:latin typeface="Calibri"/>
              </a:rPr>
              <a:t>Visual learner. Hates walls of text, loves diagrams.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65760" y="6446520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8C1F28"/>
                </a:solidFill>
                <a:latin typeface="Calibri"/>
              </a:rPr>
              <a:t>NOMIN  ·  AI Study Buddy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515600" y="6446520"/>
            <a:ext cx="1645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8C1F28"/>
                </a:solidFill>
                <a:latin typeface="Calibri"/>
              </a:rPr>
              <a:t>3 / 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BFE2D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8C1F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640080" y="502920"/>
            <a:ext cx="822960" cy="822960"/>
          </a:xfrm>
          <a:prstGeom prst="ellipse">
            <a:avLst/>
          </a:prstGeom>
          <a:solidFill>
            <a:srgbClr val="8C1F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32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45920" y="502920"/>
            <a:ext cx="100584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8C1F28"/>
                </a:solidFill>
                <a:latin typeface="Calibri"/>
              </a:rPr>
              <a:t>THEIR MAIN NEED IS…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0" y="868680"/>
            <a:ext cx="10058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1F1F"/>
                </a:solidFill>
                <a:latin typeface="Calibri"/>
              </a:rPr>
              <a:t>Understand the material, pass exams, stay sane.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691640"/>
            <a:ext cx="10972800" cy="36576"/>
          </a:xfrm>
          <a:prstGeom prst="rect">
            <a:avLst/>
          </a:prstGeom>
          <a:solidFill>
            <a:srgbClr val="8C1F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965960"/>
            <a:ext cx="10972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1F1F1F"/>
                </a:solidFill>
                <a:latin typeface="Calibri"/>
              </a:rPr>
              <a:t>Their main need is…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331720"/>
            <a:ext cx="1097280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>
                <a:solidFill>
                  <a:srgbClr val="8C1F28"/>
                </a:solidFill>
                <a:latin typeface="Calibri"/>
              </a:rPr>
              <a:t>…to actually understand their course material —</a:t>
            </a:r>
          </a:p>
          <a:p>
            <a:pPr algn="l"/>
            <a:r>
              <a:rPr sz="2800" b="1">
                <a:solidFill>
                  <a:srgbClr val="8C1F28"/>
                </a:solidFill>
                <a:latin typeface="Calibri"/>
              </a:rPr>
              <a:t>and pass exams — without burning out.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4023360"/>
            <a:ext cx="5394960" cy="10972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" y="4023360"/>
            <a:ext cx="137160" cy="1097280"/>
          </a:xfrm>
          <a:prstGeom prst="rect">
            <a:avLst/>
          </a:prstGeom>
          <a:solidFill>
            <a:srgbClr val="8C1F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4133088"/>
            <a:ext cx="4937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8C1F28"/>
                </a:solidFill>
                <a:latin typeface="Calibri"/>
              </a:rPr>
              <a:t>Information overload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4526280"/>
            <a:ext cx="49377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1F1F1F"/>
                </a:solidFill>
                <a:latin typeface="Calibri"/>
              </a:rPr>
              <a:t>Hundreds of slides per course, no clear path through them.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17920" y="4023360"/>
            <a:ext cx="5394960" cy="10972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17920" y="4023360"/>
            <a:ext cx="137160" cy="1097280"/>
          </a:xfrm>
          <a:prstGeom prst="rect">
            <a:avLst/>
          </a:prstGeom>
          <a:solidFill>
            <a:srgbClr val="8C1F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37960" y="4133088"/>
            <a:ext cx="4937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8C1F28"/>
                </a:solidFill>
                <a:latin typeface="Calibri"/>
              </a:rPr>
              <a:t>Generic content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37960" y="4526280"/>
            <a:ext cx="49377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1F1F1F"/>
                </a:solidFill>
                <a:latin typeface="Calibri"/>
              </a:rPr>
              <a:t>YouTube tutors and textbooks aren't tailored to their syllabus.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" y="5303520"/>
            <a:ext cx="5394960" cy="10972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40080" y="5303520"/>
            <a:ext cx="137160" cy="1097280"/>
          </a:xfrm>
          <a:prstGeom prst="rect">
            <a:avLst/>
          </a:prstGeom>
          <a:solidFill>
            <a:srgbClr val="8C1F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0120" y="5413248"/>
            <a:ext cx="4937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8C1F28"/>
                </a:solidFill>
                <a:latin typeface="Calibri"/>
              </a:rPr>
              <a:t>Expensive tutoring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0120" y="5806440"/>
            <a:ext cx="49377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1F1F1F"/>
                </a:solidFill>
                <a:latin typeface="Calibri"/>
              </a:rPr>
              <a:t>Private tutors cost €30–80/hour — out of reach for most students.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17920" y="5303520"/>
            <a:ext cx="5394960" cy="10972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217920" y="5303520"/>
            <a:ext cx="137160" cy="1097280"/>
          </a:xfrm>
          <a:prstGeom prst="rect">
            <a:avLst/>
          </a:prstGeom>
          <a:solidFill>
            <a:srgbClr val="8C1F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37960" y="5413248"/>
            <a:ext cx="4937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8C1F28"/>
                </a:solidFill>
                <a:latin typeface="Calibri"/>
              </a:rPr>
              <a:t>Procrastination loop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37960" y="5806440"/>
            <a:ext cx="49377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1F1F1F"/>
                </a:solidFill>
                <a:latin typeface="Calibri"/>
              </a:rPr>
              <a:t>Without structure, study time slides into TikTok time.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5760" y="6446520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8C1F28"/>
                </a:solidFill>
                <a:latin typeface="Calibri"/>
              </a:rPr>
              <a:t>NOMIN  ·  AI Study Buddy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515600" y="6446520"/>
            <a:ext cx="1645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8C1F28"/>
                </a:solidFill>
                <a:latin typeface="Calibri"/>
              </a:rPr>
              <a:t>4 / 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BFE2D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8C1F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640080" y="502920"/>
            <a:ext cx="822960" cy="822960"/>
          </a:xfrm>
          <a:prstGeom prst="ellipse">
            <a:avLst/>
          </a:prstGeom>
          <a:solidFill>
            <a:srgbClr val="8C1F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32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45920" y="502920"/>
            <a:ext cx="100584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8C1F28"/>
                </a:solidFill>
                <a:latin typeface="Calibri"/>
              </a:rPr>
              <a:t>OUR IMPACT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0" y="868680"/>
            <a:ext cx="10058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1F1F"/>
                </a:solidFill>
                <a:latin typeface="Calibri"/>
              </a:rPr>
              <a:t>NOMIN reduces drop-outs and improves grades.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691640"/>
            <a:ext cx="10972800" cy="36576"/>
          </a:xfrm>
          <a:prstGeom prst="rect">
            <a:avLst/>
          </a:prstGeom>
          <a:solidFill>
            <a:srgbClr val="8C1F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965960"/>
            <a:ext cx="10972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1F1F1F"/>
                </a:solidFill>
                <a:latin typeface="Calibri"/>
              </a:rPr>
              <a:t>By helping this customer, our start-up also…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377440"/>
            <a:ext cx="109728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400" b="1">
                <a:solidFill>
                  <a:srgbClr val="8C1F28"/>
                </a:solidFill>
                <a:latin typeface="Calibri"/>
              </a:rPr>
              <a:t>Reduces drop-out rates  by  giving every student a 1:1 tutor.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108960"/>
            <a:ext cx="10972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400" b="1">
                <a:solidFill>
                  <a:srgbClr val="8C1F28"/>
                </a:solidFill>
                <a:latin typeface="Calibri"/>
              </a:rPr>
              <a:t>Improves grades  by  closing knowledge gaps before exams.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4206240"/>
            <a:ext cx="3352800" cy="1828800"/>
          </a:xfrm>
          <a:prstGeom prst="rect">
            <a:avLst/>
          </a:prstGeom>
          <a:solidFill>
            <a:srgbClr val="8C1F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4434840"/>
            <a:ext cx="2987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4400" b="1">
                <a:solidFill>
                  <a:srgbClr val="FFFFFF"/>
                </a:solidFill>
                <a:latin typeface="Calibri"/>
              </a:rPr>
              <a:t>32%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5303520"/>
            <a:ext cx="29870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>of EU students drop out before graduating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175760" y="4206240"/>
            <a:ext cx="3352800" cy="1828800"/>
          </a:xfrm>
          <a:prstGeom prst="rect">
            <a:avLst/>
          </a:prstGeom>
          <a:solidFill>
            <a:srgbClr val="8C1F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58640" y="4434840"/>
            <a:ext cx="2987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4400" b="1">
                <a:solidFill>
                  <a:srgbClr val="FFFFFF"/>
                </a:solidFill>
                <a:latin typeface="Calibri"/>
              </a:rPr>
              <a:t>€2.4B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58640" y="5303520"/>
            <a:ext cx="29870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>spent on private tutoring in Europe each year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711440" y="4206240"/>
            <a:ext cx="3352800" cy="1828800"/>
          </a:xfrm>
          <a:prstGeom prst="rect">
            <a:avLst/>
          </a:prstGeom>
          <a:solidFill>
            <a:srgbClr val="8C1F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894320" y="4434840"/>
            <a:ext cx="2987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4400" b="1">
                <a:solidFill>
                  <a:srgbClr val="FFFFFF"/>
                </a:solidFill>
                <a:latin typeface="Calibri"/>
              </a:rPr>
              <a:t>4.7h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94320" y="5303520"/>
            <a:ext cx="29870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>avg. weekly study time saved with AI tools (pilot data)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" y="6446520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8C1F28"/>
                </a:solidFill>
                <a:latin typeface="Calibri"/>
              </a:rPr>
              <a:t>NOMIN  ·  AI Study Buddy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515600" y="6446520"/>
            <a:ext cx="1645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8C1F28"/>
                </a:solidFill>
                <a:latin typeface="Calibri"/>
              </a:rPr>
              <a:t>5 / 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BFE2D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8C1F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640080" y="502920"/>
            <a:ext cx="822960" cy="822960"/>
          </a:xfrm>
          <a:prstGeom prst="ellipse">
            <a:avLst/>
          </a:prstGeom>
          <a:solidFill>
            <a:srgbClr val="8C1F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320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45920" y="502920"/>
            <a:ext cx="100584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8C1F28"/>
                </a:solidFill>
                <a:latin typeface="Calibri"/>
              </a:rPr>
              <a:t>WHY THEY'LL CARE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0" y="868680"/>
            <a:ext cx="10058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1F1F"/>
                </a:solidFill>
                <a:latin typeface="Calibri"/>
              </a:rPr>
              <a:t>A personal tutor in your pocket — for the price of a coffee.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691640"/>
            <a:ext cx="10972800" cy="36576"/>
          </a:xfrm>
          <a:prstGeom prst="rect">
            <a:avLst/>
          </a:prstGeom>
          <a:solidFill>
            <a:srgbClr val="8C1F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965960"/>
            <a:ext cx="10972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1F1F1F"/>
                </a:solidFill>
                <a:latin typeface="Calibri"/>
              </a:rPr>
              <a:t>Our customer will care about our solution because…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377440"/>
            <a:ext cx="1097280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>
                <a:solidFill>
                  <a:srgbClr val="8C1F28"/>
                </a:solidFill>
                <a:latin typeface="Calibri"/>
              </a:rPr>
              <a:t>It solves exam anxiety and confusion,</a:t>
            </a:r>
          </a:p>
          <a:p>
            <a:pPr algn="l"/>
            <a:r>
              <a:rPr sz="2200" b="1">
                <a:solidFill>
                  <a:srgbClr val="8C1F28"/>
                </a:solidFill>
                <a:latin typeface="Calibri"/>
              </a:rPr>
              <a:t>and helps them learn faster and remember more</a:t>
            </a:r>
          </a:p>
          <a:p>
            <a:pPr algn="l"/>
            <a:r>
              <a:rPr sz="2200" b="1">
                <a:solidFill>
                  <a:srgbClr val="8C1F28"/>
                </a:solidFill>
                <a:latin typeface="Calibri"/>
              </a:rPr>
              <a:t>without paying for tutors or wasting nights on YouTube.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4846320"/>
            <a:ext cx="2560320" cy="1371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4983480"/>
            <a:ext cx="2286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8C1F28"/>
                </a:solidFill>
                <a:latin typeface="Calibri"/>
              </a:rPr>
              <a:t>Personal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5349240"/>
            <a:ext cx="22860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1F1F1F"/>
                </a:solidFill>
                <a:latin typeface="Calibri"/>
              </a:rPr>
              <a:t>Adapts to your course, your style, your language.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383280" y="4846320"/>
            <a:ext cx="2560320" cy="1371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520440" y="4983480"/>
            <a:ext cx="2286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8C1F28"/>
                </a:solidFill>
                <a:latin typeface="Calibri"/>
              </a:rPr>
              <a:t>Affordable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20440" y="5349240"/>
            <a:ext cx="22860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1F1F1F"/>
                </a:solidFill>
                <a:latin typeface="Calibri"/>
              </a:rPr>
              <a:t>€7/month — less than one tutor hour.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26480" y="4846320"/>
            <a:ext cx="2560320" cy="1371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63640" y="4983480"/>
            <a:ext cx="2286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8C1F28"/>
                </a:solidFill>
                <a:latin typeface="Calibri"/>
              </a:rPr>
              <a:t>Always 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63640" y="5349240"/>
            <a:ext cx="22860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1F1F1F"/>
                </a:solidFill>
                <a:latin typeface="Calibri"/>
              </a:rPr>
              <a:t>Answers at 2 a.m. the night before the exam.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869680" y="4846320"/>
            <a:ext cx="2560320" cy="1371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006840" y="4983480"/>
            <a:ext cx="2286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8C1F28"/>
                </a:solidFill>
                <a:latin typeface="Calibri"/>
              </a:rPr>
              <a:t>Built-in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06840" y="5349240"/>
            <a:ext cx="22860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1F1F1F"/>
                </a:solidFill>
                <a:latin typeface="Calibri"/>
              </a:rPr>
              <a:t>Connects to Moodle, Canvas, and Google Drive.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5760" y="6446520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8C1F28"/>
                </a:solidFill>
                <a:latin typeface="Calibri"/>
              </a:rPr>
              <a:t>NOMIN  ·  AI Study Buddy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515600" y="6446520"/>
            <a:ext cx="1645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8C1F28"/>
                </a:solidFill>
                <a:latin typeface="Calibri"/>
              </a:rPr>
              <a:t>6 / 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BFE2D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8C1F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640080" y="502920"/>
            <a:ext cx="822960" cy="822960"/>
          </a:xfrm>
          <a:prstGeom prst="ellipse">
            <a:avLst/>
          </a:prstGeom>
          <a:solidFill>
            <a:srgbClr val="8C1F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3200" b="1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45920" y="502920"/>
            <a:ext cx="100584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8C1F28"/>
                </a:solidFill>
                <a:latin typeface="Calibri"/>
              </a:rPr>
              <a:t>HOW WE MAKE IT 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0" y="868680"/>
            <a:ext cx="10058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1F1F"/>
                </a:solidFill>
                <a:latin typeface="Calibri"/>
              </a:rPr>
              <a:t>Freemium for students, licenses for universities.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691640"/>
            <a:ext cx="10972800" cy="36576"/>
          </a:xfrm>
          <a:prstGeom prst="rect">
            <a:avLst/>
          </a:prstGeom>
          <a:solidFill>
            <a:srgbClr val="8C1F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965960"/>
            <a:ext cx="5486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8C1F28"/>
                </a:solidFill>
                <a:latin typeface="Calibri"/>
              </a:rPr>
              <a:t>Business model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423160"/>
            <a:ext cx="5486400" cy="3657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>
                <a:solidFill>
                  <a:srgbClr val="1F1F1F"/>
                </a:solidFill>
                <a:latin typeface="Calibri"/>
              </a:rPr>
              <a:t>•  Freemium: free for 1 course, paid for unlimited.</a:t>
            </a:r>
          </a:p>
          <a:p>
            <a:pPr algn="l">
              <a:spcAft>
                <a:spcPts val="600"/>
              </a:spcAft>
            </a:pPr>
            <a:r>
              <a:rPr sz="1400">
                <a:solidFill>
                  <a:srgbClr val="1F1F1F"/>
                </a:solidFill>
                <a:latin typeface="Calibri"/>
              </a:rPr>
              <a:t>•  Pro plan: €7/month for students.</a:t>
            </a:r>
          </a:p>
          <a:p>
            <a:pPr algn="l">
              <a:spcAft>
                <a:spcPts val="600"/>
              </a:spcAft>
            </a:pPr>
            <a:r>
              <a:rPr sz="1400">
                <a:solidFill>
                  <a:srgbClr val="1F1F1F"/>
                </a:solidFill>
                <a:latin typeface="Calibri"/>
              </a:rPr>
              <a:t>•  Campus plan: bulk license sold to universities.</a:t>
            </a:r>
          </a:p>
          <a:p>
            <a:pPr algn="l">
              <a:spcAft>
                <a:spcPts val="600"/>
              </a:spcAft>
            </a:pPr>
            <a:r>
              <a:rPr sz="1400">
                <a:solidFill>
                  <a:srgbClr val="1F1F1F"/>
                </a:solidFill>
                <a:latin typeface="Calibri"/>
              </a:rPr>
              <a:t>•  B2B add-on: white-label for online course providers.</a:t>
            </a:r>
          </a:p>
          <a:p>
            <a:pPr algn="l">
              <a:spcAft>
                <a:spcPts val="600"/>
              </a:spcAft>
            </a:pPr>
            <a:r>
              <a:rPr sz="1400">
                <a:solidFill>
                  <a:srgbClr val="1F1F1F"/>
                </a:solidFill>
                <a:latin typeface="Calibri"/>
              </a:rPr>
              <a:t>•  Marketplace: verified tutors charge per session in-app.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1965960"/>
            <a:ext cx="5212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8C1F28"/>
                </a:solidFill>
                <a:latin typeface="Calibri"/>
              </a:rPr>
              <a:t>Traction &amp; next 90 days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2423160"/>
            <a:ext cx="5212080" cy="3657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>
                <a:solidFill>
                  <a:srgbClr val="1F1F1F"/>
                </a:solidFill>
                <a:latin typeface="Calibri"/>
              </a:rPr>
              <a:t>•  MVP live with 120 beta users from UE Berlin.</a:t>
            </a:r>
          </a:p>
          <a:p>
            <a:pPr algn="l">
              <a:spcAft>
                <a:spcPts val="600"/>
              </a:spcAft>
            </a:pPr>
            <a:r>
              <a:rPr sz="1400">
                <a:solidFill>
                  <a:srgbClr val="1F1F1F"/>
                </a:solidFill>
                <a:latin typeface="Calibri"/>
              </a:rPr>
              <a:t>•  NPS 62 across first cohort.</a:t>
            </a:r>
          </a:p>
          <a:p>
            <a:pPr algn="l">
              <a:spcAft>
                <a:spcPts val="600"/>
              </a:spcAft>
            </a:pPr>
            <a:r>
              <a:rPr sz="1400">
                <a:solidFill>
                  <a:srgbClr val="1F1F1F"/>
                </a:solidFill>
                <a:latin typeface="Calibri"/>
              </a:rPr>
              <a:t>•  Pilot agreement signed with 2 student associations.</a:t>
            </a:r>
          </a:p>
          <a:p>
            <a:pPr algn="l">
              <a:spcAft>
                <a:spcPts val="600"/>
              </a:spcAft>
            </a:pPr>
            <a:r>
              <a:rPr sz="1400">
                <a:solidFill>
                  <a:srgbClr val="1F1F1F"/>
                </a:solidFill>
                <a:latin typeface="Calibri"/>
              </a:rPr>
              <a:t>•  Q3: launch on iOS + Android.</a:t>
            </a:r>
          </a:p>
          <a:p>
            <a:pPr algn="l">
              <a:spcAft>
                <a:spcPts val="600"/>
              </a:spcAft>
            </a:pPr>
            <a:r>
              <a:rPr sz="1400">
                <a:solidFill>
                  <a:srgbClr val="1F1F1F"/>
                </a:solidFill>
                <a:latin typeface="Calibri"/>
              </a:rPr>
              <a:t>•  Q4: close pre-seed round (€350k).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5669280"/>
            <a:ext cx="10972800" cy="502920"/>
          </a:xfrm>
          <a:prstGeom prst="rect">
            <a:avLst/>
          </a:prstGeom>
          <a:solidFill>
            <a:srgbClr val="8C1F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5733288"/>
            <a:ext cx="109728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Looking for: pilot universities, design partners, and pre-seed angels.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8C1F28"/>
                </a:solidFill>
                <a:latin typeface="Calibri"/>
              </a:rPr>
              <a:t>NOMIN  ·  AI Study Buddy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15600" y="6446520"/>
            <a:ext cx="1645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8C1F28"/>
                </a:solidFill>
                <a:latin typeface="Calibri"/>
              </a:rPr>
              <a:t>7 / 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BFE2D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8C1F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645920"/>
            <a:ext cx="109728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800" b="1">
                <a:solidFill>
                  <a:srgbClr val="8C1F28"/>
                </a:solidFill>
                <a:latin typeface="Calibri"/>
              </a:rPr>
              <a:t>Thank you.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3291840"/>
            <a:ext cx="10972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>
                <a:solidFill>
                  <a:srgbClr val="1F1F1F"/>
                </a:solidFill>
                <a:latin typeface="Calibri"/>
              </a:rPr>
              <a:t>Feedback directly afterwards.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114800"/>
            <a:ext cx="10972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>
                <a:solidFill>
                  <a:srgbClr val="1F1F1F"/>
                </a:solidFill>
                <a:latin typeface="Calibri"/>
              </a:rPr>
              <a:t>Questions, critiques, brutal honesty — all welcome.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5303520"/>
            <a:ext cx="10972800" cy="914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5413248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8C1F28"/>
                </a:solidFill>
                <a:latin typeface="Calibri"/>
              </a:rPr>
              <a:t>Team NOMIN  ·  hello@nomin.study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5779008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1F1F1F"/>
                </a:solidFill>
                <a:latin typeface="Calibri"/>
              </a:rPr>
              <a:t>University of Europe for Applied Sciences  ·  Entrepreneurship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6446520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8C1F28"/>
                </a:solidFill>
                <a:latin typeface="Calibri"/>
              </a:rPr>
              <a:t>NOMIN  ·  AI Study Buddy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0" y="6446520"/>
            <a:ext cx="1645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8C1F28"/>
                </a:solidFill>
                <a:latin typeface="Calibri"/>
              </a:rPr>
              <a:t>8 / 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